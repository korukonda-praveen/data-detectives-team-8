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311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Detectives: Electricity Analytics &amp; Default Risk Platform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872606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AI-Driven Utility Intelligence for Non‑Technical Loss Reduction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321349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Leader: Usha Sri Yelleti | Members: Magatapalli Aruna, Gudivada Satyaveni, Korukonda Praveen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358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Summary &amp;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731466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6816" y="178013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6816" y="208664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non‑technical losses, accelerate recoveries, prioritize field 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72433" y="1731466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3130" y="178013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Problems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33130" y="2086645"/>
            <a:ext cx="2138437" cy="196319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Unmetered consumption spikes and tampering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Electricity theft across mixed zones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Delayed collections and manual follow‑up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Opaque risk signals hinder targeted enforcement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48747" y="1731466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9445" y="178013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Opportunity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09445" y="208664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 meter telemetry, billing, payment history, and field audits into one AI‑first workflow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 &amp; RBAC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94408"/>
            <a:ext cx="30531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Multi‑tier operational ecosystem with role‑based access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75581"/>
            <a:ext cx="3053135" cy="146000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Billing / Collections Officers — case management, automated dunning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Field Staff — inspection routing, tamper verification, evidence upload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Administrators — model governance, user provisioning, audit review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9892" y="1126331"/>
            <a:ext cx="2305422" cy="1544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7474" y="123266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0701" y="1693292"/>
            <a:ext cx="19838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0701" y="2056507"/>
            <a:ext cx="19838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AMI telemetry, billing ledger, payments, CRM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073" y="1126331"/>
            <a:ext cx="2305496" cy="1544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4729" y="123266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507882" y="1693292"/>
            <a:ext cx="19838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Analytics Layer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07882" y="2056507"/>
            <a:ext cx="19838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store, XGBoost models, XAI explanations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9892" y="2812703"/>
            <a:ext cx="2305422" cy="17714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7474" y="291904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060701" y="3379663"/>
            <a:ext cx="19838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Operational Layer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060701" y="3742879"/>
            <a:ext cx="19838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queue, mobile inspection app, evidence repository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7073" y="2812703"/>
            <a:ext cx="2305496" cy="17714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4729" y="291904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07882" y="3379663"/>
            <a:ext cx="19838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507882" y="3742879"/>
            <a:ext cx="19838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RBAC, audit logs, dispute workflow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356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Collections Officer Desk — Decisioning &amp; KPIs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31442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629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Live KPIs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694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cases, recovery rate, MTTR (days), predicted default probability distribution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31442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6629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Zone Risk Filtering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96949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Spatial filters, high‑risk clusters, hot‑zone alerts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3144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66298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Automated Action Engine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96949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Auto‑notices, priority scheduling, legal escalation triggers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877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 Diagnostics &amp; Explainability (XAI)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884238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Transparent risk scoring with per‑customer explanations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238598"/>
            <a:ext cx="4752677" cy="100637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SHAP weight breakdowns: top 5 contributory features per account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6‑month consumption sparkline and anomaly markers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Structured payment history timeline: missed payments, amount trends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372520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Model: XGBoost ensemble with calibrated probabilities and reliability banding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435" y="1545208"/>
            <a:ext cx="3053135" cy="18120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4466" y="2863848"/>
            <a:ext cx="758945" cy="292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Prioritize Cases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7988" y="2863848"/>
            <a:ext cx="758945" cy="292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Score &amp; Explain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95915" y="2936948"/>
            <a:ext cx="758945" cy="146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Ingest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99435" y="3516734"/>
            <a:ext cx="305313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Caption: From raw signals to prioritized actions — explainable scores enable defensible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76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Field Staff Operations — From Analytics to 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08720" y="1606004"/>
            <a:ext cx="3792289" cy="141759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64208"/>
            <a:ext cx="425276" cy="42527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1570546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03128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Inspection Queue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33779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Proximity routing, priority tags, scheduled windows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55443" y="1393403"/>
            <a:ext cx="3792364" cy="141759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2842" y="1251607"/>
            <a:ext cx="425276" cy="42527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180" y="1357945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4601" y="1818680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Hardware Integrity Checks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4601" y="212519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Seal status, tamper indicators, meter health diagnostics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08720" y="3202484"/>
            <a:ext cx="3792289" cy="141759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6119" y="3060688"/>
            <a:ext cx="425276" cy="42527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456" y="3167025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877" y="3627760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Evidence Capture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7877" y="3934271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Photo/video upload, geo‑stamp, tamper report auto‑attach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55443" y="2989883"/>
            <a:ext cx="3792364" cy="141759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42842" y="2848087"/>
            <a:ext cx="425276" cy="42527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180" y="2954424"/>
            <a:ext cx="212601" cy="212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4601" y="3415159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Field Closure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4601" y="3721671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On‑site resolution codes, provisional billing adjustment, dispute flag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219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Admin Oversight &amp; ML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4900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performance &amp; monitoring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76351"/>
            <a:ext cx="815176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Tracked metrics: Accuracy, Precision, Recall, ROC‑AUC, PSI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Drift detection: feature distribution alerts, population stability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inference simulations for policy scenarios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862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0.91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35311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ROC‑AUC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8376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discrimination on held‑out folds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28862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0.78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272433" y="35311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38376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precision on top decile alerts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28862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0.72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048747" y="35311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Recall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38376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Recovering prioritized incidents before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43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Centralized Audit Trail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75941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Real‑time logging of all user interventions and automated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57115"/>
            <a:ext cx="4327773" cy="100637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Timestamps + officer IDs for every action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Immutable event stream for compliance &amp; dispute resolution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Dispute outcome tracking, evidence linkage, adjudication notes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322960"/>
            <a:ext cx="4327773" cy="779562"/>
          </a:xfrm>
          <a:prstGeom prst="roundRect">
            <a:avLst>
              <a:gd name="adj" fmla="val 2727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42779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485927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data feeds compliance reporting and model feedback loops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531" y="1814661"/>
            <a:ext cx="3478039" cy="14998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8562" y="3030056"/>
            <a:ext cx="789052" cy="9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Dispute Record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5408562" y="2682873"/>
            <a:ext cx="789052" cy="9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Evidence &amp; Officer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5408562" y="2339196"/>
            <a:ext cx="789052" cy="9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Immutable Log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5408562" y="1992013"/>
            <a:ext cx="789052" cy="9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Event Captured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174531" y="3473946"/>
            <a:ext cx="3478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Caption: Ensures transparency, traceability, and governance across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15"/>
            <a:ext cx="8151763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Impact &amp; Conclusion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4564856" y="895424"/>
            <a:ext cx="14288" cy="3815060"/>
          </a:xfrm>
          <a:prstGeom prst="roundRect">
            <a:avLst>
              <a:gd name="adj" fmla="val 49998"/>
            </a:avLst>
          </a:prstGeom>
          <a:solidFill>
            <a:srgbClr val="B3D5E4"/>
          </a:solidFill>
          <a:ln/>
        </p:spPr>
      </p:sp>
      <p:sp>
        <p:nvSpPr>
          <p:cNvPr id="4" name="Shape 2"/>
          <p:cNvSpPr/>
          <p:nvPr/>
        </p:nvSpPr>
        <p:spPr>
          <a:xfrm>
            <a:off x="481831" y="895424"/>
            <a:ext cx="4075881" cy="790649"/>
          </a:xfrm>
          <a:custGeom>
            <a:avLst/>
            <a:gdLst/>
            <a:ahLst/>
            <a:cxnLst/>
            <a:rect l="l" t="t" r="r" b="b"/>
            <a:pathLst>
              <a:path w="4075881" h="790649">
                <a:moveTo>
                  <a:pt x="141214" y="0"/>
                </a:moveTo>
                <a:lnTo>
                  <a:pt x="4075881" y="0"/>
                </a:lnTo>
                <a:lnTo>
                  <a:pt x="4075881" y="790649"/>
                </a:lnTo>
                <a:lnTo>
                  <a:pt x="141214" y="790649"/>
                </a:lnTo>
                <a:arcTo hR="141214" wR="141214" stAng="5400000" swAng="5400000"/>
                <a:lnTo>
                  <a:pt x="0" y="141214"/>
                </a:lnTo>
                <a:arcTo hR="141214" wR="141214" stAng="10800000" swAng="5400000"/>
                <a:close/>
              </a:path>
            </a:pathLst>
          </a:cu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9554" y="1013147"/>
            <a:ext cx="384519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Faster Recoveries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9554" y="1243608"/>
            <a:ext cx="384519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prioritization reduces case handling time and increases collections velocity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86288" y="1866081"/>
            <a:ext cx="4075881" cy="790649"/>
          </a:xfrm>
          <a:custGeom>
            <a:avLst/>
            <a:gdLst/>
            <a:ahLst/>
            <a:cxnLst/>
            <a:rect l="l" t="t" r="r" b="b"/>
            <a:pathLst>
              <a:path w="4075881" h="790649">
                <a:moveTo>
                  <a:pt x="0" y="0"/>
                </a:moveTo>
                <a:lnTo>
                  <a:pt x="3934668" y="0"/>
                </a:lnTo>
                <a:arcTo hR="141214" wR="141214" stAng="16200000" swAng="5400000"/>
                <a:lnTo>
                  <a:pt x="4075881" y="649436"/>
                </a:lnTo>
                <a:arcTo hR="141214" wR="141214" stAng="0" swAng="5400000"/>
                <a:lnTo>
                  <a:pt x="0" y="790649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9248" y="1983804"/>
            <a:ext cx="384519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Reduced Fraud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99248" y="2214265"/>
            <a:ext cx="384519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Targeted inspections and XAI‑backed enforcement lower non‑technical loss exposure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1831" y="2836738"/>
            <a:ext cx="4075881" cy="677763"/>
          </a:xfrm>
          <a:custGeom>
            <a:avLst/>
            <a:gdLst/>
            <a:ahLst/>
            <a:cxnLst/>
            <a:rect l="l" t="t" r="r" b="b"/>
            <a:pathLst>
              <a:path w="4075881" h="677763">
                <a:moveTo>
                  <a:pt x="141214" y="0"/>
                </a:moveTo>
                <a:lnTo>
                  <a:pt x="4075881" y="0"/>
                </a:lnTo>
                <a:lnTo>
                  <a:pt x="4075881" y="677763"/>
                </a:lnTo>
                <a:lnTo>
                  <a:pt x="141214" y="677763"/>
                </a:lnTo>
                <a:arcTo hR="141214" wR="141214" stAng="5400000" swAng="5400000"/>
                <a:lnTo>
                  <a:pt x="0" y="141214"/>
                </a:lnTo>
                <a:arcTo hR="141214" wR="141214" stAng="10800000" swAng="5400000"/>
                <a:close/>
              </a:path>
            </a:pathLst>
          </a:cu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554" y="2954462"/>
            <a:ext cx="384519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Operational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9554" y="3184922"/>
            <a:ext cx="384519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Role‑based workflows and batch inference support large utility portfolios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86288" y="3694509"/>
            <a:ext cx="4075881" cy="1015975"/>
          </a:xfrm>
          <a:custGeom>
            <a:avLst/>
            <a:gdLst/>
            <a:ahLst/>
            <a:cxnLst/>
            <a:rect l="l" t="t" r="r" b="b"/>
            <a:pathLst>
              <a:path w="4075881" h="1015975">
                <a:moveTo>
                  <a:pt x="0" y="0"/>
                </a:moveTo>
                <a:lnTo>
                  <a:pt x="3934668" y="0"/>
                </a:lnTo>
                <a:arcTo hR="141214" wR="141214" stAng="16200000" swAng="5400000"/>
                <a:lnTo>
                  <a:pt x="4075881" y="874761"/>
                </a:lnTo>
                <a:arcTo hR="141214" wR="141214" stAng="0" swAng="5400000"/>
                <a:lnTo>
                  <a:pt x="0" y="1015975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248" y="3812232"/>
            <a:ext cx="384519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9248" y="4042693"/>
            <a:ext cx="384519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Pilot: 3 high‑risk zones, 90‑day window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Governance: deploy audit &amp; model retraining cadence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Scale: integrate full AMI fleet and mobile inspection app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2026-08-13T10:51:43Z</dcterms:created>
  <dcterms:modified xsi:type="dcterms:W3CDTF">2026-08-13T10:51:43Z</dcterms:modified>
</cp:coreProperties>
</file>